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/>
            </a:pPr>
            <a:r>
              <a:t>МИНИСТЕРСТВО ОБРАЗОВАНИЯ И НАУКИ РОССИЙСКОЙ ФЕДЕРАЦИИ</a:t>
            </a:r>
          </a:p>
          <a:p>
            <a:pPr algn="ctr">
              <a:spcAft>
                <a:spcPts val="400"/>
              </a:spcAft>
              <a:defRPr sz="1100" b="1"/>
            </a:pPr>
            <a:r>
              <a:t>ФЕДЕРАЛЬНОЕ ГОСУДАРСТВЕННОЕ БЮДЖЕТНОЕ ОБРАЗОВАТЕЛЬНОЕ</a:t>
            </a:r>
          </a:p>
          <a:p>
            <a:pPr algn="ctr">
              <a:spcAft>
                <a:spcPts val="400"/>
              </a:spcAft>
              <a:defRPr sz="1100" b="1"/>
            </a:pPr>
            <a:r>
              <a:t>УЧРЕЖДЕНИЕ ВЫСШЕГО ОБРАЗОВАНИЯ</a:t>
            </a:r>
          </a:p>
          <a:p>
            <a:pPr algn="ctr">
              <a:spcAft>
                <a:spcPts val="400"/>
              </a:spcAft>
              <a:defRPr sz="1200" b="1"/>
            </a:pPr>
            <a:r>
              <a:t>«МОСКОВСКИЙ АВИАЦИОННЫЙ ИНСТИТУТ</a:t>
            </a:r>
          </a:p>
          <a:p>
            <a:pPr algn="ctr">
              <a:spcAft>
                <a:spcPts val="800"/>
              </a:spcAft>
              <a:defRPr sz="1200" b="1"/>
            </a:pPr>
            <a:r>
              <a:t>(НАЦИОНАЛЬНЫЙ ИССЛЕДОВАТЕЛЬСКИЙ УНИВЕРСИТЕТ)» (МАИ)</a:t>
            </a:r>
          </a:p>
          <a:p>
            <a:pPr algn="ctr">
              <a:spcAft>
                <a:spcPts val="400"/>
              </a:spcAft>
              <a:defRPr sz="1300" b="1"/>
            </a:pPr>
            <a:r>
              <a:t>Кафедра 806</a:t>
            </a:r>
          </a:p>
          <a:p>
            <a:pPr algn="ctr">
              <a:spcAft>
                <a:spcPts val="1200"/>
              </a:spcAft>
              <a:defRPr sz="1200" b="1"/>
            </a:pPr>
            <a:r>
              <a:t>«Вычислительная математика и программирование»</a:t>
            </a:r>
          </a:p>
          <a:p>
            <a:pPr algn="ctr">
              <a:spcAft>
                <a:spcPts val="400"/>
              </a:spcAft>
              <a:defRPr sz="600" b="0"/>
            </a:pPr>
          </a:p>
          <a:p>
            <a:pPr algn="ctr">
              <a:spcAft>
                <a:spcPts val="400"/>
              </a:spcAft>
              <a:defRPr sz="1400" b="1"/>
            </a:pPr>
            <a:r>
              <a:t>Отчёт по лабораторной работе</a:t>
            </a:r>
          </a:p>
          <a:p>
            <a:pPr algn="ctr">
              <a:spcAft>
                <a:spcPts val="400"/>
              </a:spcAft>
              <a:defRPr sz="1600" b="1"/>
            </a:pPr>
            <a:r>
              <a:t>«Нейросетевое решение уравнения Бюргерса</a:t>
            </a:r>
          </a:p>
          <a:p>
            <a:pPr algn="ctr">
              <a:spcAft>
                <a:spcPts val="400"/>
              </a:spcAft>
              <a:defRPr sz="1600" b="1"/>
            </a:pPr>
            <a:r>
              <a:t>методами PINN, PINN+RAR и DeepONet</a:t>
            </a:r>
          </a:p>
          <a:p>
            <a:pPr algn="ctr">
              <a:spcAft>
                <a:spcPts val="1000"/>
              </a:spcAft>
              <a:defRPr sz="1400" b="1"/>
            </a:pPr>
            <a:r>
              <a:t>для 1D и 2D задач гидродинамики»</a:t>
            </a:r>
          </a:p>
          <a:p>
            <a:pPr algn="ctr">
              <a:spcAft>
                <a:spcPts val="400"/>
              </a:spcAft>
              <a:defRPr sz="1200" b="0"/>
            </a:pPr>
            <a:r>
              <a:t>по курсу</a:t>
            </a:r>
          </a:p>
          <a:p>
            <a:pPr algn="ctr">
              <a:spcAft>
                <a:spcPts val="1400"/>
              </a:spcAft>
              <a:defRPr sz="1300" b="1"/>
            </a:pPr>
            <a:r>
              <a:t>«Физически информированное машинное обучение»</a:t>
            </a:r>
          </a:p>
          <a:p>
            <a:pPr algn="l">
              <a:spcAft>
                <a:spcPts val="600"/>
              </a:spcAft>
              <a:defRPr sz="1300" b="0"/>
            </a:pPr>
            <a:r>
              <a:t>преподаватель: Стрижак С.В.</a:t>
            </a:r>
          </a:p>
          <a:p>
            <a:pPr algn="l">
              <a:spcAft>
                <a:spcPts val="400"/>
              </a:spcAft>
              <a:defRPr sz="1300" b="0"/>
            </a:pPr>
            <a:r>
              <a:t>выполнила: Аршинов И.А.</a:t>
            </a:r>
          </a:p>
          <a:p>
            <a:pPr algn="l">
              <a:spcAft>
                <a:spcPts val="1400"/>
              </a:spcAft>
              <a:defRPr sz="1300" b="0"/>
            </a:pPr>
            <a:r>
              <a:t>группа: М8О-105СВ-2025</a:t>
            </a:r>
          </a:p>
          <a:p>
            <a:pPr algn="ctr">
              <a:spcAft>
                <a:spcPts val="400"/>
              </a:spcAft>
              <a:defRPr sz="1300" b="1"/>
            </a:pPr>
            <a:r>
              <a:t>Москва,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Решить одномерное и двумерное уравнение Бюргерса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(модель нелинейных волн и ударных фронтов)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Применить три нейросетевых метода: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1. PINN — физико-информированная сеть (без данных)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2. PINN + RAR — адаптивное уточнение коллокационных точек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3. DeepONet — операторная сеть (обучение на датасете)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Провести сравнительный анализ: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– Точность (Relative L2 Error)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– Время обучения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– Требования к данным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Визуализировать ударные волны (1D) и вихревые структуры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Цель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Исследовать физико-информированные нейронные сети (PINN)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как инструмент решения дифференциальных уравнений в частных производных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Изучить метод адаптивного уточнения RAR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для повышения точности в областях больших градиентов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Реализовать операторную сеть DeepONet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как суррогатный решатель для мгновенных предсказаний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Провести сравнительный анализ методов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по точности, времени обучения и зависимости от данных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• Подготовить набор визуализаций для демонстрации результатов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Уравнение Бюргерса — простейшая модель, объединяющая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нелинейный перенос и вязкую диффузию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Применяется в: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Газодинамике (ударные волны в трубах, сопла)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Теории дорожного трафика (модель пробки)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Нелинейной акустике (звуковые волны большой амплитуды)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Турбулентности (каскад энергии в 2D)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Классические сеточные методы требуют мелкой сетки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в зонах ударных фронтов → высокие вычислительные затраты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PINN и DeepONet — бессеточные нейросетевые подходы: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Не требуют построения расчётной сетки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DeepONet заменяет итеративный солвер прямой прогонкой сети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Уравнение Бюргерса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ОДНОМЕРНЫЙ СЛУЧАЙ (1D):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∂u/∂t + u · ∂u/∂x = ν · ∂²u/∂x²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x ∈ [−1, 1],  t ∈ [0, 1],  ν = 0.01/π ≈ 0.00318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ДВУМЕРНЫЙ СЛУЧАЙ (2D):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∂u/∂t + u · ∂u/∂x + u · ∂u/∂y = ν · (∂²u/∂x² + ∂²u/∂y²)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(x, y) ∈ [−1, 1]²,  t ∈ [0, 1]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где: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u — скорость потока (1D) или скалярное поле (2D)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ν — кинематическая вязкость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u·u_x — нелинейный конвективный перенос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</a:defRPr>
            </a:pPr>
            <a:r>
              <a:t>  ν·u_xx — вязкая диффузия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Физические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1D — УДАРНАЯ ВОЛНА В ТРУБЕ: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Газ в длинной узкой трубе, резкий перепад давления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Начальная синусоида u(x,0) = −sin(πx) опрокидывается в «пилу»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Ударный фронт со временем размывается вязкостью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Аналогия: автомобильная пробка на дороге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2D — ДВУМЕРНАЯ ТУРБУЛЕНТНОСТЬ: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Плоский слой жидкости с несколькими вихрями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Вихри взаимодействуют, дробятся на мелкие структуры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Энергия каскадом переходит в мелкие масштабы и диссипирует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Начальное условие: суперпозиция гауссиан разного знака</a:t>
            </a:r>
          </a:p>
        </p:txBody>
      </p:sp>
      <p:pic>
        <p:nvPicPr>
          <p:cNvPr id="4" name="Picture 3" descr="burgers_2d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9144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Метод 1: PINN (Physics-Informed Neural Network)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ПРИНЦИП РАБОТЫ: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Полносвязная нейронная сеть аппроксимирует решение u(x,t)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Вход: пространственно-временные координаты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Выход: значение функции u в этой точке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ФУНКЦИЯ ПОТЕРЬ: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Loss = MSE_PDE + MSE_начало + MSE_границы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Производные вычисляются автоматическим дифференцированием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Данные НЕ требуются — только уравнение и граничные условия!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def pde(x, u):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"""1D Burgers equation residual"""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du_x = dde.grad.jacobian(u, x, i=0, j=0)   # du/dx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du_t = dde.grad.jacobian(u, x, i=0, j=1)   # du/dt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du_xx = dde.grad.hessian(u, x, i=0, j=0)   # d²u/dx²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residual = du_t + u * du_x - nu * du_xx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return residual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nu = 0.01 / pi — вязкость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Автоградиент вычисляет производные по графу вычислений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50292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Начальные и граничные условия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ic = dde.icbc.IC(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geomtime,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lambda x: -sin(pi * x[:, 0:1]),  # u(x,0)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lambda _, on: on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bc = dde.icbc.DirichletBC(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geomtime,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lambda x: zeros_like(x[:, 0:1]), # u=0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lambda _, on: on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Метод 2: PINN + 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ПРОБЛЕМА ОБЫЧНОГО PINN: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Равномерные коллокационные точки неэффективны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Ударный фронт требует больше точек, чем гладкие области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RAR (RESIDUAL-BASED ADAPTIVE REFINEMENT):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1. Обучаем PINN на равномерной сетке (грубое решение)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2. Вычисляем невязку PDE на тестовой сетке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3. Выбираем top-K точек с максимальной |невязкой|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4. Добавляем их через anchors = new_points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5. Переобучаем — сеть фокусируется на ударном фронте!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97280"/>
            <a:ext cx="50292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RAR: добавляем точки с max невязкой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residuals = abs(model.predict(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test_points, operator=pde))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sorted_idx = argsort(residuals)[::-1]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new_points = test_points[sorted_idx[:500]]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Обновляем данные — anchors!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data = dde.data.TimePDE(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geomtime, pde, [ic, bc],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num_domain=512,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anchors=new_points,  # &lt;-- RAR!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)</a:t>
            </a:r>
          </a:p>
        </p:txBody>
      </p:sp>
      <p:pic>
        <p:nvPicPr>
          <p:cNvPr id="5" name="Picture 4" descr="burgers_1d_ra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29200"/>
            <a:ext cx="1005840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Метод 3: DeepONet (Deep Operator Network)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ИДЕЯ: Учим оператор G, отображающий начальное условие в решение: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G : u(x, 0) → u(x, t)  для всех x, 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АРХИТЕКТУРА (две подсети):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Branch Net: принимает дискретные значения u₀(x) → эмбеддинг b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Trunk Net: принимает координаты (x, t) → базис 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Выход: скалярное произведение &lt;b, t&gt; + bias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ПОСЛЕ ОБУЧЕНИЯ: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Предсказание для нового u₀ без переобучения!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Одна прямая прогонка сети = доли секунды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DeepONet: операторная сеть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net = dde.nn.DeepONetCartesianProd(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layer_sizes_branch=[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    128, 128, 128, 100  # u0 -&gt; embedding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layer_sizes_trunk=[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    2, 128, 128, 100     # (x,t) -&gt; basis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activation="relu",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kernel_initializer="Glorot normal",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Branch: 128 входов (сетка u0)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Trunk: 2 входа (x, t)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Выход: dot(branch, trunk)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0"/>
            <a:ext cx="50292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Данные для DeepONet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data = dde.data.Triple(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X_train=(branch_train, trunk_train),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y_train=sol_train,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X_test=(branch_test, trunk_test),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y_test=sol_test,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branch: начальные условия u0(x)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trunk: координаты (x,t)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sol: соответствующие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Инструменты и 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ТЕХНОЛОГИИ: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Python 3.12, TensorFlow 2.21 (backend)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DeepXDE 1.15 — фреймворк для PINN и DeepONet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NumPy, Matplotlib, SciPy, Scikit-learn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УСТАНОВКА: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pip install deepxde tensorflow matplotlib numpy scipy scikit-learn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СТРУКТУРА ПРОЕКТА: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burgers_project/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├── 1d/    ← PINN, RAR, DeepONet 1D (6 скриптов, 16+ графиков)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│   ├── burgers_pinn_1d.py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│   ├── burgers_rar_1d.py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│   ├── burgers_deeponet_1d.py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│   └── generate_*.py (датасеты)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├── 2d/    ← PINN, DeepONet 2D (3 скрипта, 8+ графиков)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│   ├── burgers_pinn_2d.py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│   └── burgers_deeponet_2d_demo.py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└── plot_comparison.py ← сравнительные графики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1D Бюргерс: постановка эксперимента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УРАВНЕНИЕ: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u_t + u · u_x = ν · u_xx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ОБЛАСТЬ: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x ∈ [−1, 1],  t ∈ [0, 1]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ВЯЗКОСТЬ: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ν = 0.01 / π ≈ 0.00318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НАЧАЛЬНОЕ УСЛОВИЕ: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u(x, 0) = −sin(πx)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ГРАНИЧНЫЕ УСЛОВИЯ: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u(−1, t) = u(1, t) = 0  (Dirichlet)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1D PINN: архитектура и обучение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АРХИТЕКТУРА: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5 скрытых слоёв × 30 нейронов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Функция активации: tanh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2000 коллокационных точек + 100 начальных + 100 граничных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ОБУЧЕНИЕ: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10000 эпох, оптимизатор Adam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Learning rate: 1e-3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Время обучения: 117 секунд (CPU)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Train loss: 4.55 → 3.73×10⁻⁴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54864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Архитектура PINN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net = dde.nn.FNN(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layer_sizes=[2] + [30] * 5 + [1],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activation="tanh",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kernel_initializer="Glorot normal",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model = dde.Model(data, net)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model.compile("adam", lr=1e-3)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losshistory, train_state = model.train(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iterations=10000,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display_every=500,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model_save_path="burgers_1d_pinn",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)</a:t>
            </a:r>
          </a:p>
        </p:txBody>
      </p:sp>
      <p:pic>
        <p:nvPicPr>
          <p:cNvPr id="5" name="Picture 4" descr="burgers_1d_pinn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10972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1D PINN: результаты</a:t>
            </a:r>
          </a:p>
        </p:txBody>
      </p:sp>
      <p:pic>
        <p:nvPicPr>
          <p:cNvPr id="3" name="Picture 2" descr="burgers_1d_pinn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743200"/>
          </a:xfrm>
          <a:prstGeom prst="rect">
            <a:avLst/>
          </a:prstGeom>
        </p:spPr>
      </p:pic>
      <p:pic>
        <p:nvPicPr>
          <p:cNvPr id="4" name="Picture 3" descr="burgers_1d_pinn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PINN восстанавливает ударный фронт без данных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Relative L2 Error = 8.27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Основная ошибка — в зоне формирования фронта (t ≈ 0.5)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Причина: мало точек в области больших градиентов</a:t>
            </a:r>
          </a:p>
        </p:txBody>
      </p:sp>
      <p:pic>
        <p:nvPicPr>
          <p:cNvPr id="6" name="Picture 5" descr="burgers_1d_pinn_sl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03520"/>
            <a:ext cx="109728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1D PINN+RAR: адаптивное уточнение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Stage 1: обучение на 512 равномерных точках (5000 эпох)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Stage 2: вычисление невязки → добавление 500 точек в пиках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Stage 3: переобучение с anchors (10000 эпох, lr=1e-4)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РЕЗУЛЬТАТ: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Видно сгущение красных точек у ударного фронта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Relative L2 = 8.37 — сопоставимо с PINN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RAR не дал выигрыша: фронт недостаточно острый при ν=0.003</a:t>
            </a:r>
          </a:p>
        </p:txBody>
      </p:sp>
      <p:pic>
        <p:nvPicPr>
          <p:cNvPr id="4" name="Picture 3" descr="burgers_1d_ra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2743200"/>
          </a:xfrm>
          <a:prstGeom prst="rect">
            <a:avLst/>
          </a:prstGeom>
        </p:spPr>
      </p:pic>
      <p:pic>
        <p:nvPicPr>
          <p:cNvPr id="5" name="Picture 4" descr="burgers_1d_rar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100584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1D DeepONet: датасет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097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ГЕНЕРАЦИЯ ДАННЫХ: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1000 начальных условий: случайные суммы 2-5 гауссиан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Каждое решено split-step FFT методом (спектральная точность)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Сетка: 128 точек по x, 50 срезов по времени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Разделение: 800 train / 200 test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ПАРАМЕТРЫ ГАУССИАН: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Амплитуда: a ∈ [−1.5, 1.5]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Центр: c ∈ [−0.6, 0.6]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Ширина: w ∈ [0.15, 0.5]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Генерация одного сэмпла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n_gauss = randint(2, 6)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u0 = zeros(N_x)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for _ in range(n_gauss):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a = uniform(-1.5, 1.5)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c = uniform(-0.6, 0.6)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w = uniform(0.15, 0.5)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u0 += a * exp(-(x - c)**2 / w**2)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# Решение FFT-методом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u = solve_burgers_fft(u0, t_grid, nu)</a:t>
            </a:r>
          </a:p>
        </p:txBody>
      </p:sp>
      <p:pic>
        <p:nvPicPr>
          <p:cNvPr id="5" name="Picture 4" descr="deeponet_datase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109728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1D DeepONet: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097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20000 эпох, 310 секунд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Relative L2 Error = 0.62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В 13 раз точнее PINN (8.27 → 0.62)!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Предсказание для нового u₀ — доли секунды</a:t>
            </a:r>
          </a:p>
        </p:txBody>
      </p:sp>
      <p:pic>
        <p:nvPicPr>
          <p:cNvPr id="4" name="Picture 3" descr="burgers_1d_deepone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286000"/>
          </a:xfrm>
          <a:prstGeom prst="rect">
            <a:avLst/>
          </a:prstGeom>
        </p:spPr>
      </p:pic>
      <p:pic>
        <p:nvPicPr>
          <p:cNvPr id="5" name="Picture 4" descr="burgers_1d_deepone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5943600" cy="2926080"/>
          </a:xfrm>
          <a:prstGeom prst="rect">
            <a:avLst/>
          </a:prstGeom>
        </p:spPr>
      </p:pic>
      <p:pic>
        <p:nvPicPr>
          <p:cNvPr id="6" name="Picture 5" descr="burgers_1d_deeponet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53035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2D Бюргерс: постановка эксперимента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УРАВНЕНИЕ: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u_t + u·u_x + u·u_y = ν·(u_xx + u_yy)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ОБЛАСТЬ: (x,y) ∈ [−1, 1]², t ∈ [0, 1]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ВЯЗКОСТЬ: ν = 0.01/π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НАЧАЛЬНОЕ УСЛОВИЕ: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3 вихря — суперпозиция гауссиан разного знака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ГРАНИЦЫ: u = 0 (Dirichlet)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54864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def pde(x, u):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"""2D Burgers residual"""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du_x = dde.grad.jacobian(u, x, i=0, j=0)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du_y = dde.grad.jacobian(u, x, i=0, j=1)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du_t = dde.grad.jacobian(u, x, i=0, j=2)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du_xx = dde.grad.hessian(u, x, i=0, j=0)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du_yy = dde.grad.hessian(u, x, i=1, j=1)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return (du_t + u*du_x + u*du_y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nsolas"/>
              </a:defRPr>
            </a:pPr>
            <a:r>
              <a:t>            - nu*(du_xx + du_yy))</a:t>
            </a:r>
          </a:p>
        </p:txBody>
      </p:sp>
      <p:pic>
        <p:nvPicPr>
          <p:cNvPr id="5" name="Picture 4" descr="burgers_2d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754880"/>
            <a:ext cx="91440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2D PINN: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Сеть: 5 слоёв × 40 нейронов, активация tanh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1500 коллокационных + 300 начальных + 300 граничных точек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15000 эпох, время обучения: 202 секунды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Relative L2 Error = 0.53 — ХОРОШАЯ ТОЧНОСТЬ!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В 15 раз точнее, чем PINN в 1D (8.27)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Причина: 2D решение гладкое, без острых ударных фронтов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→ сеть легко учит вихревые структуры</a:t>
            </a:r>
          </a:p>
        </p:txBody>
      </p:sp>
      <p:pic>
        <p:nvPicPr>
          <p:cNvPr id="4" name="Picture 3" descr="burgers_2d_pinn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486400" cy="2560320"/>
          </a:xfrm>
          <a:prstGeom prst="rect">
            <a:avLst/>
          </a:prstGeom>
        </p:spPr>
      </p:pic>
      <p:pic>
        <p:nvPicPr>
          <p:cNvPr id="5" name="Picture 4" descr="burgers_2d_pinn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10972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2D DeepONet MINI: упрощённая 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ПРОБЛЕМА ПОЛНОГО DEEPONET 2D: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1024-мерный вход (32×32 сетка) — проклятие размерности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400 примеров катастрофически мало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Сеть не сходится (L2 ≈ 1.0)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РЕШЕНИЕ — MINI-ВЕРСИЯ: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1000 сэмплов × одна гауссиана (всего 4 параметра!)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Сетка: 8×8×5 = 320 точек выхода (×64 сжатие)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PCA-сжатие входа: 1024 → 32 компоненты (98.3% дисперсии)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Архитектура: 32→64→64→32 (компактная)</a:t>
            </a:r>
          </a:p>
        </p:txBody>
      </p:sp>
      <p:pic>
        <p:nvPicPr>
          <p:cNvPr id="4" name="Picture 3" descr="burgers_2d_don_mini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2D DeepONet MINI: результаты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Время обучения: 69 секунд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Relative L2 = 0.28 ± 0.11 (50 тестовых сэмплов)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ЛУЧШИЙ РЕЗУЛЬТАТ СРЕДИ ВСЕХ 5 МОДЕЛЕЙ!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В 2 раза точнее PINN 2D (0.53 → 0.28)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Предсказание для нового вихря — мгновенно</a:t>
            </a:r>
          </a:p>
        </p:txBody>
      </p:sp>
      <p:pic>
        <p:nvPicPr>
          <p:cNvPr id="4" name="Picture 3" descr="burgers_2d_don_mini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09728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Сравнение всех методов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МОДЕЛЬ              │ L2 ↓  │ ВРЕМЯ  │ ДАННЫЕ? │ КЛЮЧЕВОЕ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─────────────────────┼───────┼────────┼─────────┼──────────────────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PINN 1D             │ 8.27  │ 117с   │ Нет     │ Слабый фронт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PINN+RAR 1D         │ 8.37  │ 166с   │ Нет     │ ~ (RAR не помог)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DeepONet 1D         │ 0.62  │ 310с   │ Да ★    │ В 13× точнее PINN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PINN 2D             │ 0.53  │ 202с   │ Нет     │ Гладкое решение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DeepONet 2D MINI    │ 0.28  │ 69с    │ Да ★★   │ Абсолютный лидер!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★  Лучший в 1D: DeepONet (L2=0.62, но нужны данные)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★★ Лучший в 2D: DeepONet MINI (L2=0.28, быстрее всех!)</a:t>
            </a:r>
          </a:p>
        </p:txBody>
      </p:sp>
      <p:pic>
        <p:nvPicPr>
          <p:cNvPr id="4" name="Picture 3" descr="comparison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50292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Сравнение Loss-кривых всех методов</a:t>
            </a:r>
          </a:p>
        </p:txBody>
      </p:sp>
      <p:pic>
        <p:nvPicPr>
          <p:cNvPr id="3" name="Picture 2" descr="comparison_los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Анализ сходимости DeepONet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1D DeepONet: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Быстрое плато: сеть выучивает оператор за ~2000 эпох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Дальнейшее обучение почти не улучшает результат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Причина: низкоразмерная зависимость u₀ → u(x,t)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2D DeepONet MINI: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Плавное падение loss в 13 раз (5.5×10⁻² → 4.1×10⁻³)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Стабильная сходимость без осцилляций и взрывов градиента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Причина: малая размерность (PCA) + 600 примеров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2D DeepONet (полный, 400 примеров):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Loss застыл на 0.12 за 30000 эпох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Проклятие размерности: 1024D вход × 400 примеров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Вывод: DeepONet критически зависит от качества датасета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Обсуждение результатов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ЧТО СРАБОТАЛО ХОРОШО: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✓ PINN успешно решает уравнение Бюргерса без данных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✓ DeepONet в 1D даёт отличную точность (L2=0.62)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✓ DeepONet 2D MINI показал лучший результат (L2=0.28)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✓ 2D задача проще для PINN (гладкое решение, нет острых фронтов)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ЧТО МОЖНО УЛУЧШИТЬ: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PINN 1D: увеличить число точек у фронта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RAR: применить при меньшей вязкости (ν &lt; 0.001)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DeepONet 2D: больше данных или FNO-архитектура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ОГРАНИЧЕНИЯ: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Всё обучение на CPU (Windows, нет GPU)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Ограниченное время на подбор гиперпараметров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1. PINN — универсальный инструмент для решения PDE: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Не требует данных — только уравнение и граничные условия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Хорош для гладких решений (2D: L2=0.53)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Требует настройки распределения коллокационных точек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2. RAR-адаптация — не всегда эффективна: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Даёт выигрыш только при острых фронтах (малая вязкость)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При ν=0.003 результат сопоставим с обычным PINN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3. DeepONet — лучший выбор для суррогатного моделирования: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1D: L2=0.62 — в 13 раз точнее PINN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2D MINI: L2=0.28 — абсолютный рекорд среди всех моделей!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После обучения — мгновенные предсказания (доли секунды)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4. Перспективы развития: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Применение Fourier Neural Operator (FNO) для 2D задач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Обобщение на уравнения Навье-Стокса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• Использование GPU для ускорения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